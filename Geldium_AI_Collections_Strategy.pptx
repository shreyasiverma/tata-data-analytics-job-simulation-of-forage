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</p:sldIdLst>
  <p:sldSz cx="9144000" cy="5143500" type="screen16x9"/>
  <p:notesSz cx="6858000" cy="9144000"/>
  <p:embeddedFontLst>
    <p:embeddedFont>
      <p:font typeface="Roboto" panose="020B0604020202020204" charset="0"/>
      <p:regular r:id="rId10"/>
      <p:bold r:id="rId11"/>
      <p:italic r:id="rId12"/>
      <p:boldItalic r:id="rId13"/>
    </p:embeddedFont>
    <p:embeddedFont>
      <p:font typeface="Roboto Slab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05" d="100"/>
          <a:sy n="105" d="100"/>
        </p:scale>
        <p:origin x="80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207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629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</a:t>
            </a:r>
            <a:r>
              <a:rPr lang="en-US" sz="1600" dirty="0"/>
              <a:t>Customer data like demographics, credit score, missed payments, DTI ratio.</a:t>
            </a:r>
          </a:p>
          <a:p>
            <a:pPr marL="114300" indent="0">
              <a:buNone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</a:t>
            </a:r>
            <a:r>
              <a:rPr lang="en-US" sz="1600" dirty="0"/>
              <a:t>Predictive model + business rules decide next best action.</a:t>
            </a:r>
          </a:p>
          <a:p>
            <a:pPr marL="11430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: </a:t>
            </a:r>
            <a:r>
              <a:rPr lang="en-US" sz="1600" dirty="0"/>
              <a:t>Triggers SMS/email reminders, support offers, or escalation steps.</a:t>
            </a:r>
          </a:p>
          <a:p>
            <a:pPr marL="114300" indent="0">
              <a:buNone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</a:t>
            </a:r>
            <a:r>
              <a:rPr lang="en-US" sz="1600" dirty="0"/>
              <a:t>Tracks repayment/engagement → updates model decisions continuously.</a:t>
            </a: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dirty="0"/>
              <a:t>Explain which parts of the system will operate autonomously and which require human oversight. Consider: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Fully automated decisions 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200" dirty="0"/>
              <a:t>Sends payment reminders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200" dirty="0"/>
              <a:t>Adjusts outreach frequency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200" dirty="0"/>
              <a:t>Suggests support plans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200" dirty="0"/>
              <a:t>Learns and adapts from customer behavior</a:t>
            </a:r>
            <a:endParaRPr lang="en-GB" sz="1200" dirty="0"/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Human-reviewed actions (e.g., offering personalized hardship plans)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 lvl="1">
              <a:buFont typeface="Wingdings" panose="05000000000000000000" pitchFamily="2" charset="2"/>
              <a:buChar char="q"/>
            </a:pPr>
            <a:endParaRPr lang="en-GB" sz="1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FE990F-71F0-4C61-AA1F-8DE62DE40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219294"/>
              </p:ext>
            </p:extLst>
          </p:nvPr>
        </p:nvGraphicFramePr>
        <p:xfrm>
          <a:off x="387350" y="3064510"/>
          <a:ext cx="8369300" cy="304800"/>
        </p:xfrm>
        <a:graphic>
          <a:graphicData uri="http://schemas.openxmlformats.org/drawingml/2006/table">
            <a:tbl>
              <a:tblPr/>
              <a:tblGrid>
                <a:gridCol w="8369300">
                  <a:extLst>
                    <a:ext uri="{9D8B030D-6E8A-4147-A177-3AD203B41FA5}">
                      <a16:colId xmlns:a16="http://schemas.microsoft.com/office/drawing/2014/main" val="3469800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92018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013EE7-4688-42B6-8833-8825DBDF4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39423"/>
              </p:ext>
            </p:extLst>
          </p:nvPr>
        </p:nvGraphicFramePr>
        <p:xfrm>
          <a:off x="989143" y="3369310"/>
          <a:ext cx="8369300" cy="1981199"/>
        </p:xfrm>
        <a:graphic>
          <a:graphicData uri="http://schemas.openxmlformats.org/drawingml/2006/table">
            <a:tbl>
              <a:tblPr/>
              <a:tblGrid>
                <a:gridCol w="8369300">
                  <a:extLst>
                    <a:ext uri="{9D8B030D-6E8A-4147-A177-3AD203B41FA5}">
                      <a16:colId xmlns:a16="http://schemas.microsoft.com/office/drawing/2014/main" val="307218697"/>
                    </a:ext>
                  </a:extLst>
                </a:gridCol>
              </a:tblGrid>
              <a:tr h="1981199"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en-US" sz="1200" dirty="0"/>
                        <a:t>Reviews sensitive customer cases</a:t>
                      </a:r>
                    </a:p>
                    <a:p>
                      <a:pPr marL="171450" indent="-171450"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en-US" sz="1200" dirty="0"/>
                        <a:t>Handles disputes and manual exceptions</a:t>
                      </a:r>
                    </a:p>
                    <a:p>
                      <a:pPr marL="171450" indent="-171450"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en-US" sz="1200" dirty="0"/>
                        <a:t>Oversees fairness, bias, and ethical compliance</a:t>
                      </a:r>
                    </a:p>
                    <a:p>
                      <a:pPr marL="171450" indent="-171450">
                        <a:buClr>
                          <a:schemeClr val="tx1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en-US" sz="1200" dirty="0"/>
                        <a:t>Approves hardship deferrals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774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Fairness checks : </a:t>
            </a:r>
            <a:r>
              <a:rPr lang="en-US" sz="1600" dirty="0"/>
              <a:t>Audit predictions regularly to avoid bias (e.g., income, age, location)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/>
              <a:t>Explainability</a:t>
            </a:r>
            <a:r>
              <a:rPr lang="en-US" sz="1600" b="1" dirty="0"/>
              <a:t>:</a:t>
            </a:r>
            <a:r>
              <a:rPr lang="en-US" sz="1600" dirty="0"/>
              <a:t> Use transparent models (e.g., logistic regression) and SHAP for decision reasoning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Compliance:</a:t>
            </a:r>
            <a:r>
              <a:rPr lang="en-US" sz="1600" dirty="0"/>
              <a:t> Align with regulations (ECOA, GDPR, FCRA, FCA)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Human-in-the-Loop:</a:t>
            </a:r>
            <a:r>
              <a:rPr lang="en-US" sz="1600" dirty="0"/>
              <a:t> Manual review for sensitive/high-risk decisions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/>
              <a:t>Quantitative outcomes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Quantitative Benefits:</a:t>
            </a:r>
            <a:endParaRPr lang="en-US" dirty="0"/>
          </a:p>
          <a:p>
            <a:r>
              <a:rPr lang="en-US" dirty="0"/>
              <a:t> 12% reduction in 30+ day delinquencies</a:t>
            </a:r>
          </a:p>
          <a:p>
            <a:r>
              <a:rPr lang="en-US" dirty="0"/>
              <a:t> 25% lower cost per outreach</a:t>
            </a:r>
          </a:p>
          <a:p>
            <a:r>
              <a:rPr lang="en-US" dirty="0"/>
              <a:t> Higher recovery in high-risk segments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46CF-2326-4FA4-8B09-E4FC3E4C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/>
              <a:t>Qualitative outcomes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7737F-3E65-40E7-A754-FECB1C3D2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Qualitative Benefits:</a:t>
            </a:r>
            <a:endParaRPr lang="en-US" dirty="0"/>
          </a:p>
          <a:p>
            <a:r>
              <a:rPr lang="en-US" dirty="0"/>
              <a:t> Better customer engagement and satisfaction</a:t>
            </a:r>
          </a:p>
          <a:p>
            <a:r>
              <a:rPr lang="en-US" dirty="0"/>
              <a:t> More personalized, fair outreach strategies</a:t>
            </a:r>
          </a:p>
          <a:p>
            <a:r>
              <a:rPr lang="en-US" dirty="0"/>
              <a:t> Scalable collections system with responsible AI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2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46CF-2326-4FA4-8B09-E4FC3E4C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00" y="516081"/>
            <a:ext cx="8368200" cy="6861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Conclusion: Strategic Impact of the Proposed AI System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7737F-3E65-40E7-A754-FECB1C3D2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722053"/>
            <a:ext cx="8368200" cy="3078900"/>
          </a:xfrm>
        </p:spPr>
        <p:txBody>
          <a:bodyPr/>
          <a:lstStyle/>
          <a:p>
            <a:pPr marL="114300" indent="0">
              <a:buNone/>
            </a:pPr>
            <a:r>
              <a:rPr lang="en-US" sz="1600" dirty="0"/>
              <a:t>The proposed AI-powered collections system offers </a:t>
            </a:r>
            <a:r>
              <a:rPr lang="en-US" sz="1600" dirty="0" err="1"/>
              <a:t>Geldium</a:t>
            </a:r>
            <a:r>
              <a:rPr lang="en-US" sz="1600" dirty="0"/>
              <a:t> a scalable, data-driven approach to managing delinquency. By combining predictive insights with agentic AI, the system can deliver personalized, real-time interventions that reduce 30+ day delinquency rates, improve repayment outcomes, and lower outreach costs by up to 25%. Beyond efficiency, the solution enhances customer trust through fairer treatment, transparent decision-making, and ethical automation. This shift from manual processes to adaptive AI enables </a:t>
            </a:r>
            <a:r>
              <a:rPr lang="en-US" sz="1600" dirty="0" err="1"/>
              <a:t>Geldium</a:t>
            </a:r>
            <a:r>
              <a:rPr lang="en-US" sz="1600" dirty="0"/>
              <a:t> to scale responsibly while meeting business goals and regulatory standards.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0037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556</Words>
  <Application>Microsoft Office PowerPoint</Application>
  <PresentationFormat>On-screen Show (16:9)</PresentationFormat>
  <Paragraphs>51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 Slab</vt:lpstr>
      <vt:lpstr>Arial</vt:lpstr>
      <vt:lpstr>Roboto</vt:lpstr>
      <vt:lpstr>Wingdings</vt:lpstr>
      <vt:lpstr>Marina</vt:lpstr>
      <vt:lpstr>AI-Powered Collections Strategy</vt:lpstr>
      <vt:lpstr>How the System Works</vt:lpstr>
      <vt:lpstr>Role of Agentic AI</vt:lpstr>
      <vt:lpstr>Responsible AI Guardrails</vt:lpstr>
      <vt:lpstr>Quantitative outcomes</vt:lpstr>
      <vt:lpstr>Qualitative outcomes</vt:lpstr>
      <vt:lpstr>Conclusion: Strategic Impact of the Proposed AI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dc:creator>Anushka</dc:creator>
  <cp:lastModifiedBy>Anushka</cp:lastModifiedBy>
  <cp:revision>6</cp:revision>
  <dcterms:modified xsi:type="dcterms:W3CDTF">2025-06-15T10:48:00Z</dcterms:modified>
</cp:coreProperties>
</file>